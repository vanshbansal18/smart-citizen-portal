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35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proposed academic e-governance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457200"/>
            <a:ext cx="73152" cy="7315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640080"/>
            <a:ext cx="73152" cy="7315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822960"/>
            <a:ext cx="73152" cy="7315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766560" y="457200"/>
            <a:ext cx="73152" cy="7315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640080"/>
            <a:ext cx="73152" cy="7315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822960"/>
            <a:ext cx="73152" cy="7315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57200"/>
            <a:ext cx="73152" cy="73152"/>
          </a:xfrm>
          <a:prstGeom prst="ellipse">
            <a:avLst/>
          </a:prstGeom>
          <a:solidFill>
            <a:srgbClr val="22D3EE">
              <a:alpha val="6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ACADEMIC PROJECT PROPOSAL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051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Citizen Service Portal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E-Governance Web Platform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Citizen Services Smarter, Simpler &amp; More Transparent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6225A"/>
          </a:solidFill>
          <a:ln w="9525">
            <a:solidFill>
              <a:srgbClr val="2F4A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49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Team of 4 Members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914400"/>
            <a:ext cx="3474720" cy="3474720"/>
          </a:xfrm>
          <a:prstGeom prst="ellipse">
            <a:avLst/>
          </a:prstGeom>
          <a:solidFill>
            <a:srgbClr val="16225A"/>
          </a:solidFill>
          <a:ln w="12700">
            <a:solidFill>
              <a:srgbClr val="2F4AA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949440" y="914400"/>
            <a:ext cx="914" cy="173736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2651760"/>
            <a:ext cx="1737360" cy="91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2651760"/>
            <a:ext cx="914" cy="173736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651760"/>
            <a:ext cx="1737360" cy="91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920240"/>
            <a:ext cx="1463040" cy="1463040"/>
          </a:xfrm>
          <a:prstGeom prst="ellipse">
            <a:avLst/>
          </a:prstGeom>
          <a:solidFill>
            <a:srgbClr val="2F5BFF"/>
          </a:solidFill>
          <a:ln w="31750">
            <a:solidFill>
              <a:srgbClr val="22D3EE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86000"/>
            <a:ext cx="731520" cy="731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583680" y="548640"/>
            <a:ext cx="731520" cy="731520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731520"/>
            <a:ext cx="365760" cy="36576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8321040" y="22860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468880"/>
            <a:ext cx="365760" cy="36576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583680" y="402336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206240"/>
            <a:ext cx="365760" cy="36576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846320" y="2286000"/>
            <a:ext cx="731520" cy="731520"/>
          </a:xfrm>
          <a:prstGeom prst="ellipse">
            <a:avLst/>
          </a:prstGeom>
          <a:solidFill>
            <a:srgbClr val="C026D3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46888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40080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8183880" y="3108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Offices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6400800" y="3474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4663440" y="3108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Network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 Smart Citizen Portal?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for the proposed project — not measured research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20640" y="128016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PROCESS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SOLUTION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47472" cy="347472"/>
          </a:xfrm>
          <a:prstGeom prst="ellipse">
            <a:avLst/>
          </a:prstGeom>
          <a:solidFill>
            <a:srgbClr val="FDE8E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869948"/>
            <a:ext cx="173736" cy="1737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728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Complicated citizen-service processes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03520" y="1783080"/>
            <a:ext cx="347472" cy="34747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388" y="1869948"/>
            <a:ext cx="173736" cy="1737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6072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digital platform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2350008"/>
            <a:ext cx="347472" cy="347472"/>
          </a:xfrm>
          <a:prstGeom prst="ellipse">
            <a:avLst/>
          </a:prstGeom>
          <a:solidFill>
            <a:srgbClr val="FDE8E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436876"/>
            <a:ext cx="173736" cy="1737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2350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applications &amp; complaints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303520" y="2350008"/>
            <a:ext cx="347472" cy="34747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388" y="2436876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60720" y="2350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applications &amp; complaint submission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0080" y="2916936"/>
            <a:ext cx="347472" cy="347472"/>
          </a:xfrm>
          <a:prstGeom prst="ellipse">
            <a:avLst/>
          </a:prstGeom>
          <a:solidFill>
            <a:srgbClr val="FDE8E8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003804"/>
            <a:ext cx="173736" cy="1737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29169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complaint categorization &amp; routing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303520" y="2916936"/>
            <a:ext cx="347472" cy="34747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388" y="3003804"/>
            <a:ext cx="173736" cy="17373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760720" y="29169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status tracking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40080" y="3483864"/>
            <a:ext cx="347472" cy="347472"/>
          </a:xfrm>
          <a:prstGeom prst="ellipse">
            <a:avLst/>
          </a:prstGeom>
          <a:solidFill>
            <a:srgbClr val="FDE8E8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570732"/>
            <a:ext cx="173736" cy="17373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97280" y="34838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transparency into request progress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5303520" y="3483864"/>
            <a:ext cx="347472" cy="34747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388" y="3570732"/>
            <a:ext cx="173736" cy="173736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760720" y="34838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categorization &amp; prioritization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640080" y="4050792"/>
            <a:ext cx="347472" cy="347472"/>
          </a:xfrm>
          <a:prstGeom prst="ellipse">
            <a:avLst/>
          </a:prstGeom>
          <a:solidFill>
            <a:srgbClr val="FDE8E8"/>
          </a:solidFill>
          <a:ln/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137660"/>
            <a:ext cx="173736" cy="173736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097280" y="4050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citizen queries &amp; admin workload</a:t>
            </a:r>
            <a:endParaRPr lang="en-US" sz="1400" dirty="0"/>
          </a:p>
        </p:txBody>
      </p:sp>
      <p:sp>
        <p:nvSpPr>
          <p:cNvPr id="35" name="Shape 24"/>
          <p:cNvSpPr/>
          <p:nvPr/>
        </p:nvSpPr>
        <p:spPr>
          <a:xfrm>
            <a:off x="5303520" y="4050792"/>
            <a:ext cx="347472" cy="347472"/>
          </a:xfrm>
          <a:prstGeom prst="ellipse">
            <a:avLst/>
          </a:prstGeom>
          <a:solidFill>
            <a:srgbClr val="E0F7FA"/>
          </a:solidFill>
          <a:ln/>
        </p:spPr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388" y="4137660"/>
            <a:ext cx="173736" cy="173736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760720" y="4050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citizen, officer &amp; admin interfaces</a:t>
            </a:r>
            <a:endParaRPr lang="en-US" sz="1400" dirty="0"/>
          </a:p>
        </p:txBody>
      </p:sp>
      <p:sp>
        <p:nvSpPr>
          <p:cNvPr id="38" name="Shape 26"/>
          <p:cNvSpPr/>
          <p:nvPr/>
        </p:nvSpPr>
        <p:spPr>
          <a:xfrm>
            <a:off x="4160520" y="2697480"/>
            <a:ext cx="822960" cy="822960"/>
          </a:xfrm>
          <a:prstGeom prst="ellipse">
            <a:avLst/>
          </a:prstGeom>
          <a:solidFill>
            <a:srgbClr val="2F5BFF"/>
          </a:solidFill>
          <a:ln/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926080"/>
            <a:ext cx="365760" cy="36576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4023360" y="3566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Multiple Smart Services.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399032"/>
            <a:ext cx="457200" cy="457200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1333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Authentication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&amp; role-based access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08960" y="1623060"/>
            <a:ext cx="640080" cy="1211580"/>
          </a:xfrm>
          <a:prstGeom prst="line">
            <a:avLst/>
          </a:prstGeom>
          <a:noFill/>
          <a:ln w="19050">
            <a:solidFill>
              <a:srgbClr val="8FA0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2860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58775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70205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Applications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services, upload documents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108960" y="2811780"/>
            <a:ext cx="640080" cy="22860"/>
          </a:xfrm>
          <a:prstGeom prst="line">
            <a:avLst/>
          </a:prstGeom>
          <a:noFill/>
          <a:ln w="19050">
            <a:solidFill>
              <a:srgbClr val="8FA0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47472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377647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890772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8872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Management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1887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grievances, track resolution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 flipV="1">
            <a:off x="3108960" y="2834640"/>
            <a:ext cx="640080" cy="1165860"/>
          </a:xfrm>
          <a:prstGeom prst="line">
            <a:avLst/>
          </a:prstGeom>
          <a:noFill/>
          <a:ln w="19050">
            <a:solidFill>
              <a:srgbClr val="8FA0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035040" y="109728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72200" y="1399032"/>
            <a:ext cx="457200" cy="457200"/>
          </a:xfrm>
          <a:prstGeom prst="ellipse">
            <a:avLst/>
          </a:prstGeom>
          <a:solidFill>
            <a:srgbClr val="C026D3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1513332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6656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Assistance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chatbot for service queries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 flipV="1">
            <a:off x="5394960" y="1623060"/>
            <a:ext cx="640080" cy="1211580"/>
          </a:xfrm>
          <a:prstGeom prst="line">
            <a:avLst/>
          </a:prstGeom>
          <a:noFill/>
          <a:ln w="19050">
            <a:solidFill>
              <a:srgbClr val="8FA0D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35040" y="228600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72200" y="258775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702052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76656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Dashboard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676656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manage &amp; resolve requests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 flipV="1">
            <a:off x="5394960" y="2811780"/>
            <a:ext cx="640080" cy="22860"/>
          </a:xfrm>
          <a:prstGeom prst="line">
            <a:avLst/>
          </a:prstGeom>
          <a:noFill/>
          <a:ln w="19050">
            <a:solidFill>
              <a:srgbClr val="8FA0D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035040" y="347472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72200" y="377647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890772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76656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676656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departments, services, analytics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5394960" y="2834640"/>
            <a:ext cx="640080" cy="1165860"/>
          </a:xfrm>
          <a:prstGeom prst="line">
            <a:avLst/>
          </a:prstGeom>
          <a:noFill/>
          <a:ln w="19050">
            <a:solidFill>
              <a:srgbClr val="8FA0D8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657600" y="2103120"/>
            <a:ext cx="1828800" cy="1463040"/>
          </a:xfrm>
          <a:prstGeom prst="ellipse">
            <a:avLst/>
          </a:prstGeom>
          <a:solidFill>
            <a:srgbClr val="0B1437"/>
          </a:solidFill>
          <a:ln w="31750">
            <a:solidFill>
              <a:srgbClr val="22D3EE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0" y="2286000"/>
            <a:ext cx="548640" cy="54864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365760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Citizen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Citizen Request to Resolution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Complaint-management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51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0956" y="1399032"/>
            <a:ext cx="384048" cy="384048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495044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8013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Login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1234440"/>
            <a:ext cx="256032" cy="256032"/>
          </a:xfrm>
          <a:prstGeom prst="rect">
            <a:avLst/>
          </a:prstGeom>
          <a:solidFill>
            <a:srgbClr val="0B14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08760" y="1755648"/>
            <a:ext cx="144475" cy="822960"/>
          </a:xfrm>
          <a:prstGeom prst="line">
            <a:avLst/>
          </a:prstGeom>
          <a:noFill/>
          <a:ln w="19050">
            <a:solidFill>
              <a:srgbClr val="2F5BF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1653235" y="2148840"/>
            <a:ext cx="1051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86991" y="2221992"/>
            <a:ext cx="384048" cy="384048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003" y="2318004"/>
            <a:ext cx="192024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8955" y="26243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Complaint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634947" y="2057400"/>
            <a:ext cx="256032" cy="256032"/>
          </a:xfrm>
          <a:prstGeom prst="rect">
            <a:avLst/>
          </a:prstGeom>
          <a:solidFill>
            <a:srgbClr val="0B14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 flipV="1">
            <a:off x="2704795" y="1755648"/>
            <a:ext cx="144475" cy="822960"/>
          </a:xfrm>
          <a:prstGeom prst="line">
            <a:avLst/>
          </a:prstGeom>
          <a:noFill/>
          <a:ln w="19050">
            <a:solidFill>
              <a:srgbClr val="2F5BFF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849270" y="1325880"/>
            <a:ext cx="1051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83026" y="139903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038" y="149504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894990" y="18013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830982" y="1234440"/>
            <a:ext cx="256032" cy="256032"/>
          </a:xfrm>
          <a:prstGeom prst="rect">
            <a:avLst/>
          </a:prstGeom>
          <a:solidFill>
            <a:srgbClr val="0B14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900830" y="1755648"/>
            <a:ext cx="144475" cy="822960"/>
          </a:xfrm>
          <a:prstGeom prst="line">
            <a:avLst/>
          </a:prstGeom>
          <a:noFill/>
          <a:ln w="19050">
            <a:solidFill>
              <a:srgbClr val="2F5BFF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4045306" y="2148840"/>
            <a:ext cx="1051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379062" y="2221992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074" y="2318004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091026" y="26243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/ Officer Assignment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027018" y="2057400"/>
            <a:ext cx="256032" cy="256032"/>
          </a:xfrm>
          <a:prstGeom prst="rect">
            <a:avLst/>
          </a:prstGeom>
          <a:solidFill>
            <a:srgbClr val="0B14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 flipV="1">
            <a:off x="5096866" y="1755648"/>
            <a:ext cx="144475" cy="822960"/>
          </a:xfrm>
          <a:prstGeom prst="line">
            <a:avLst/>
          </a:prstGeom>
          <a:noFill/>
          <a:ln w="19050">
            <a:solidFill>
              <a:srgbClr val="2F5BFF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241341" y="1325880"/>
            <a:ext cx="1051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575097" y="139903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1109" y="1495044"/>
            <a:ext cx="192024" cy="1920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87061" y="18013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Review &amp; Action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5223053" y="1234440"/>
            <a:ext cx="256032" cy="256032"/>
          </a:xfrm>
          <a:prstGeom prst="rect">
            <a:avLst/>
          </a:prstGeom>
          <a:solidFill>
            <a:srgbClr val="0B14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292901" y="1755648"/>
            <a:ext cx="144475" cy="822960"/>
          </a:xfrm>
          <a:prstGeom prst="line">
            <a:avLst/>
          </a:prstGeom>
          <a:noFill/>
          <a:ln w="19050">
            <a:solidFill>
              <a:srgbClr val="2F5BFF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6437376" y="2148840"/>
            <a:ext cx="1051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771132" y="222199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144" y="2318004"/>
            <a:ext cx="192024" cy="19202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483096" y="26243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6419088" y="2057400"/>
            <a:ext cx="256032" cy="256032"/>
          </a:xfrm>
          <a:prstGeom prst="rect">
            <a:avLst/>
          </a:prstGeom>
          <a:solidFill>
            <a:srgbClr val="0B14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 flipV="1">
            <a:off x="7488936" y="1755648"/>
            <a:ext cx="144475" cy="822960"/>
          </a:xfrm>
          <a:prstGeom prst="line">
            <a:avLst/>
          </a:prstGeom>
          <a:noFill/>
          <a:ln w="19050">
            <a:solidFill>
              <a:srgbClr val="2F5BFF"/>
            </a:solidFill>
            <a:prstDash val="solid"/>
            <a:tailEnd type="triangle"/>
          </a:ln>
        </p:spPr>
      </p:sp>
      <p:sp>
        <p:nvSpPr>
          <p:cNvPr id="40" name="Shape 32"/>
          <p:cNvSpPr/>
          <p:nvPr/>
        </p:nvSpPr>
        <p:spPr>
          <a:xfrm>
            <a:off x="7633411" y="1325880"/>
            <a:ext cx="1051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967167" y="1399032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3179" y="1495044"/>
            <a:ext cx="192024" cy="19202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679131" y="18013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Notification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7615123" y="1234440"/>
            <a:ext cx="256032" cy="256032"/>
          </a:xfrm>
          <a:prstGeom prst="rect">
            <a:avLst/>
          </a:prstGeom>
          <a:solidFill>
            <a:srgbClr val="0B14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4572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LIFECYCLE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457200" y="3520440"/>
            <a:ext cx="822960" cy="320040"/>
          </a:xfrm>
          <a:prstGeom prst="roundRect">
            <a:avLst>
              <a:gd name="adj" fmla="val 48571"/>
            </a:avLst>
          </a:prstGeom>
          <a:solidFill>
            <a:srgbClr val="2F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457200" y="3520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1371600" y="3520440"/>
            <a:ext cx="822960" cy="320040"/>
          </a:xfrm>
          <a:prstGeom prst="roundRect">
            <a:avLst>
              <a:gd name="adj" fmla="val 48571"/>
            </a:avLst>
          </a:prstGeom>
          <a:solidFill>
            <a:srgbClr val="2F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1371600" y="3520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2286000" y="3520440"/>
            <a:ext cx="822960" cy="320040"/>
          </a:xfrm>
          <a:prstGeom prst="roundRect">
            <a:avLst>
              <a:gd name="adj" fmla="val 48571"/>
            </a:avLst>
          </a:prstGeom>
          <a:solidFill>
            <a:srgbClr val="2F5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2286000" y="3520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3200400" y="3520440"/>
            <a:ext cx="822960" cy="320040"/>
          </a:xfrm>
          <a:prstGeom prst="roundRect">
            <a:avLst>
              <a:gd name="adj" fmla="val 48571"/>
            </a:avLst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3200400" y="3520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4114800" y="3520440"/>
            <a:ext cx="822960" cy="320040"/>
          </a:xfrm>
          <a:prstGeom prst="roundRect">
            <a:avLst>
              <a:gd name="adj" fmla="val 48571"/>
            </a:avLst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4114800" y="3520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5029200" y="3520440"/>
            <a:ext cx="822960" cy="320040"/>
          </a:xfrm>
          <a:prstGeom prst="roundRect">
            <a:avLst>
              <a:gd name="adj" fmla="val 48571"/>
            </a:avLst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5029200" y="35204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58" name="Shape 49"/>
          <p:cNvSpPr/>
          <p:nvPr/>
        </p:nvSpPr>
        <p:spPr>
          <a:xfrm>
            <a:off x="6126480" y="31546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59" name="Text 50"/>
          <p:cNvSpPr txBox="1"/>
          <p:nvPr/>
        </p:nvSpPr>
        <p:spPr>
          <a:xfrm>
            <a:off x="6263640" y="32186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tracking panel (illustrative)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6263640" y="3456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Streetlight not working</a:t>
            </a:r>
            <a:endParaRPr lang="en-US" sz="1400" dirty="0"/>
          </a:p>
        </p:txBody>
      </p:sp>
      <p:sp>
        <p:nvSpPr>
          <p:cNvPr id="61" name="Shape 52"/>
          <p:cNvSpPr/>
          <p:nvPr/>
        </p:nvSpPr>
        <p:spPr>
          <a:xfrm>
            <a:off x="6309360" y="379476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6537960" y="3749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63" name="Shape 54"/>
          <p:cNvSpPr/>
          <p:nvPr/>
        </p:nvSpPr>
        <p:spPr>
          <a:xfrm>
            <a:off x="6309360" y="404164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6537960" y="3995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200" dirty="0"/>
          </a:p>
        </p:txBody>
      </p:sp>
      <p:sp>
        <p:nvSpPr>
          <p:cNvPr id="65" name="Shape 56"/>
          <p:cNvSpPr/>
          <p:nvPr/>
        </p:nvSpPr>
        <p:spPr>
          <a:xfrm>
            <a:off x="6309360" y="428853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6" name="Text 57"/>
          <p:cNvSpPr txBox="1"/>
          <p:nvPr/>
        </p:nvSpPr>
        <p:spPr>
          <a:xfrm>
            <a:off x="6537960" y="42428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200" dirty="0"/>
          </a:p>
        </p:txBody>
      </p:sp>
      <p:sp>
        <p:nvSpPr>
          <p:cNvPr id="67" name="Shape 58"/>
          <p:cNvSpPr/>
          <p:nvPr/>
        </p:nvSpPr>
        <p:spPr>
          <a:xfrm>
            <a:off x="6309360" y="4535424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8" name="Text 59"/>
          <p:cNvSpPr txBox="1"/>
          <p:nvPr/>
        </p:nvSpPr>
        <p:spPr>
          <a:xfrm>
            <a:off x="6537960" y="44897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← current</a:t>
            </a:r>
            <a:endParaRPr lang="en-US" sz="1200" dirty="0"/>
          </a:p>
        </p:txBody>
      </p:sp>
      <p:sp>
        <p:nvSpPr>
          <p:cNvPr id="69" name="Text 60"/>
          <p:cNvSpPr txBox="1"/>
          <p:nvPr/>
        </p:nvSpPr>
        <p:spPr>
          <a:xfrm>
            <a:off x="457200" y="4023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submit details and optional images. AI suggests category, department and priority. An administrator or authorized workflow assigns it; officers act; citizens track progress.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Behind Our Portal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017520" y="1691640"/>
            <a:ext cx="685800" cy="64008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3017520" y="2331720"/>
            <a:ext cx="685800" cy="50292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5440680" y="1691640"/>
            <a:ext cx="685800" cy="64008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0680" y="2331720"/>
            <a:ext cx="685800" cy="50292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1463040"/>
            <a:ext cx="1737360" cy="1737360"/>
          </a:xfrm>
          <a:prstGeom prst="ellipse">
            <a:avLst/>
          </a:prstGeom>
          <a:solidFill>
            <a:srgbClr val="1E2F8F"/>
          </a:solidFill>
          <a:ln w="381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1691640"/>
            <a:ext cx="1280160" cy="1280160"/>
          </a:xfrm>
          <a:prstGeom prst="ellipse">
            <a:avLst/>
          </a:prstGeom>
          <a:solidFill>
            <a:srgbClr val="8B5CF6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659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840480" y="2606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1887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6225A"/>
          </a:solidFill>
          <a:ln w="9525">
            <a:solidFill>
              <a:srgbClr val="2F4A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14630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15773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15568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Classification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115568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category &amp; department using NLP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3317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6225A"/>
          </a:solidFill>
          <a:ln w="9525">
            <a:solidFill>
              <a:srgbClr val="2F4AA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6928" y="26060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27203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15568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Priority Prediction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115568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Low, Medium, High or Critical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26480" y="11887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6225A"/>
          </a:solidFill>
          <a:ln w="9525">
            <a:solidFill>
              <a:srgbClr val="2F4AA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36208" y="14630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08" y="157734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84848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finds repeated or related complaints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126480" y="23317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6225A"/>
          </a:solidFill>
          <a:ln w="9525">
            <a:solidFill>
              <a:srgbClr val="2F4AA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236208" y="26060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508" y="2720340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784848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Citizen Chatbot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784848" y="2743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 answers from an approved knowledge base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6225A"/>
          </a:solidFill>
          <a:ln w="9525">
            <a:solidFill>
              <a:srgbClr val="2F4AA8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40080" y="3675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not tested predictions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4008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“Streetlights are not working in my area.”</a:t>
            </a:r>
            <a:endParaRPr lang="en-US" sz="14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411480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297680" y="3931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Street Lighting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Relevant Municipal Dept.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Suggested by model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6766560" y="3931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suggests. Officers &amp; admins make the final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That Powers the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layered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 •  Officer  •  Admin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2F5BFF"/>
          </a:solidFill>
          <a:ln/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• JavaScript • Tailwind CSS • Axios • React Router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0891B2"/>
          </a:solidFill>
          <a:ln/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9436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FastAPI REST APIs • JWT Auth • SQLAlchemy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/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108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• Services • Roles • Workflow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1691640"/>
            <a:ext cx="0" cy="137160"/>
          </a:xfrm>
          <a:prstGeom prst="line">
            <a:avLst/>
          </a:prstGeom>
          <a:noFill/>
          <a:ln w="19050">
            <a:solidFill>
              <a:srgbClr val="5B6A9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2331720"/>
            <a:ext cx="0" cy="137160"/>
          </a:xfrm>
          <a:prstGeom prst="line">
            <a:avLst/>
          </a:prstGeom>
          <a:noFill/>
          <a:ln w="19050">
            <a:solidFill>
              <a:srgbClr val="5B6A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26080" y="2971800"/>
            <a:ext cx="0" cy="137160"/>
          </a:xfrm>
          <a:prstGeom prst="line">
            <a:avLst/>
          </a:prstGeom>
          <a:noFill/>
          <a:ln w="19050">
            <a:solidFill>
              <a:srgbClr val="5B6A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9319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B1437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4217670"/>
            <a:ext cx="205740" cy="2057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5156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108960" y="393192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8B5CF6"/>
          </a:solidFill>
          <a:ln/>
        </p:spPr>
      </p:sp>
      <p:sp>
        <p:nvSpPr>
          <p:cNvPr id="20" name="Shape 17"/>
          <p:cNvSpPr/>
          <p:nvPr/>
        </p:nvSpPr>
        <p:spPr>
          <a:xfrm>
            <a:off x="3200400" y="4114800"/>
            <a:ext cx="411480" cy="41148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270" y="4217670"/>
            <a:ext cx="205740" cy="2057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703320" y="3931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component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1600200" y="3611880"/>
            <a:ext cx="0" cy="320040"/>
          </a:xfrm>
          <a:prstGeom prst="line">
            <a:avLst/>
          </a:prstGeom>
          <a:noFill/>
          <a:ln w="19050">
            <a:solidFill>
              <a:srgbClr val="5B6A94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4251960" y="3611880"/>
            <a:ext cx="0" cy="320040"/>
          </a:xfrm>
          <a:prstGeom prst="line">
            <a:avLst/>
          </a:prstGeom>
          <a:noFill/>
          <a:ln w="19050">
            <a:solidFill>
              <a:srgbClr val="5B6A94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760720" y="1188720"/>
            <a:ext cx="2926080" cy="35204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594360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Stack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5943600" y="1600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• NLP • TF-IDF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• LLM API • RAG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943600" y="25146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powers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943600" y="27889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035040" y="2788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classification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943600" y="32461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035040" y="3246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prediction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943600" y="3703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035040" y="3703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943600" y="41605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035040" y="4160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assistance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Smarter Digital Governance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606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234440"/>
            <a:ext cx="640080" cy="640080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13944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online service access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complaint registration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request tracking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service guidance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097280"/>
            <a:ext cx="2560320" cy="2606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960" y="12344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13944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9184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Officers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377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task management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AI-supported categorization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status updates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560320" cy="2606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  <a:effectLst>
            <a:outerShdw blurRad="101600" dist="25400" dir="5400000" algn="bl" rotWithShape="0">
              <a:srgbClr val="1B2A6B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6600" y="1234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3944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2648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Administrators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3774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&amp; officer assignment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analytics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B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operations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7647"/>
            </a:avLst>
          </a:prstGeom>
          <a:solidFill>
            <a:srgbClr val="0B1437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11480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2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1148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1148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2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114800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8580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Smart Citizen Services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7498080" cy="914"/>
          </a:xfrm>
          <a:prstGeom prst="line">
            <a:avLst/>
          </a:prstGeom>
          <a:noFill/>
          <a:ln w="25400">
            <a:solidFill>
              <a:srgbClr val="22D3E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22960" y="2697480"/>
            <a:ext cx="7498080" cy="914"/>
          </a:xfrm>
          <a:prstGeom prst="line">
            <a:avLst/>
          </a:prstGeom>
          <a:noFill/>
          <a:ln w="25400">
            <a:solidFill>
              <a:srgbClr val="22D3E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47695" y="1325880"/>
            <a:ext cx="548640" cy="548640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4855" y="1463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27655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46750" y="1325880"/>
            <a:ext cx="548640" cy="548640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910" y="1463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2671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Assistant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045806" y="1325880"/>
            <a:ext cx="548640" cy="548640"/>
          </a:xfrm>
          <a:prstGeom prst="ellipse">
            <a:avLst/>
          </a:prstGeom>
          <a:solidFill>
            <a:srgbClr val="2F5B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2966" y="146304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725766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/ Maps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6032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286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Verification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47695" y="2423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4855" y="2560320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2727655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5546750" y="2423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3910" y="2560320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22671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Integration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8045806" y="24231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2966" y="2560320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7725766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Monitoring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6225A"/>
          </a:solidFill>
          <a:ln w="9525">
            <a:solidFill>
              <a:srgbClr val="2F4AA8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640080" y="3291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Citizen Service Portal aims to bring citizen services, complaint management, AI-assisted decision support, and transparent status tracking together into one unified digital platform.</a:t>
            </a:r>
            <a:endParaRPr lang="en-US" sz="1400" dirty="0"/>
          </a:p>
        </p:txBody>
      </p:sp>
      <p:sp>
        <p:nvSpPr>
          <p:cNvPr id="31" name="Text 21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“Smarter Services. Empowered Citizens. Better Governance.”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Office PowerPoint</Application>
  <PresentationFormat>On-screen Show (16:9)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Citizen Service Portal</dc:title>
  <dc:subject>PptxGenJS Presentation</dc:subject>
  <dc:creator>PptxGenJS</dc:creator>
  <cp:lastModifiedBy>UTKARSH PRATAP SINGH</cp:lastModifiedBy>
  <cp:revision>2</cp:revision>
  <dcterms:created xsi:type="dcterms:W3CDTF">2026-10-22T03:52:58Z</dcterms:created>
  <dcterms:modified xsi:type="dcterms:W3CDTF">2026-10-22T03:58:00Z</dcterms:modified>
</cp:coreProperties>
</file>